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3885bde1344fc7" /><Relationship Type="http://schemas.openxmlformats.org/officeDocument/2006/relationships/extended-properties" Target="/docProps/app.xml" Id="R2ba0d475d6234aed" /><Relationship Type="http://schemas.openxmlformats.org/officeDocument/2006/relationships/officeDocument" Target="/ppt/presentation.xml" Id="R9ef1734bc8284c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d0dc8c6e124eb0"/>
  </p:sldMasterIdLst>
  <p:notesMasterIdLst>
    <p:notesMasterId xmlns:r="http://schemas.openxmlformats.org/officeDocument/2006/relationships" r:id="Rd58f660cca71424b"/>
  </p:notesMasterIdLst>
  <p:sldIdLst>
    <p:sldId xmlns:r="http://schemas.openxmlformats.org/officeDocument/2006/relationships" id="256" r:id="R7e96048b00914128"/>
    <p:sldId xmlns:r="http://schemas.openxmlformats.org/officeDocument/2006/relationships" id="257" r:id="Rddfba931125a4dc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356b75a6c6408b" /><Relationship Type="http://schemas.openxmlformats.org/officeDocument/2006/relationships/slideMaster" Target="/ppt/slideMasters/slideMaster1.xml" Id="R55d0dc8c6e124eb0" /><Relationship Type="http://schemas.openxmlformats.org/officeDocument/2006/relationships/notesMaster" Target="/ppt/notesMasters/notesMaster1.xml" Id="Rd58f660cca71424b" /><Relationship Type="http://schemas.openxmlformats.org/officeDocument/2006/relationships/presProps" Target="/ppt/presProps.xml" Id="R783332c758d2405e" /><Relationship Type="http://schemas.openxmlformats.org/officeDocument/2006/relationships/tableStyles" Target="/ppt/tableStyles.xml" Id="R54605c24fa794988" /><Relationship Type="http://schemas.openxmlformats.org/officeDocument/2006/relationships/slide" Target="/ppt/slides/slide1.xml" Id="R7e96048b00914128" /><Relationship Type="http://schemas.openxmlformats.org/officeDocument/2006/relationships/slide" Target="/ppt/slides/slide2.xml" Id="Rddfba931125a4d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8444758d3345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ae664f1ff94033" /><Relationship Type="http://schemas.openxmlformats.org/officeDocument/2006/relationships/notesMaster" Target="/ppt/notesMasters/notesMaster1.xml" Id="R1a2db71ed29d43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7df88342cc4a64" /><Relationship Type="http://schemas.openxmlformats.org/officeDocument/2006/relationships/notesMaster" Target="/ppt/notesMasters/notesMaster1.xml" Id="Rdddc406d8f184c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4f62388dcf44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94f62297fe4e3c" /><Relationship Type="http://schemas.openxmlformats.org/officeDocument/2006/relationships/slideLayout" Target="/ppt/slideLayouts/slideLayout1.xml" Id="R70347317120542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347317120542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cdf6db2624d77" /><Relationship Type="http://schemas.openxmlformats.org/officeDocument/2006/relationships/notesSlide" Target="/ppt/notesSlides/notesSlide1.xml" Id="R22a96a86beca41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3d3690c664bd7" /><Relationship Type="http://schemas.openxmlformats.org/officeDocument/2006/relationships/notesSlide" Target="/ppt/notesSlides/notesSlide2.xml" Id="R3d69eeca4b6041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935206E3-232E-4119-9D0E-00894AB6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57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7357FF"/>
                </a:solidFill>
                <a:latin typeface="Aptos Display"/>
                <a:ea typeface="Aptos Display"/>
                <a:cs typeface="Aptos Display"/>
              </a:rPr>
              <a:t>plexima.io</a:t>
            </a:r>
          </a:p>
        </p:txBody>
      </p:sp>
      <p:sp>
        <p:nvSpPr>
          <p:cNvPr id="2" name="brand-orbit-1">
            <a:extLst xmlns:a="http://schemas.openxmlformats.org/drawingml/2006/main">
              <a:ext uri="{FF2B5EF4-FFF2-40B4-BE49-F238E27FC236}">
                <a16:creationId xmlns:a16="http://schemas.microsoft.com/office/drawing/2014/main" id="{3AEC49DF-5774-4B74-A473-4A49C923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9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7FF"/>
          </a:solidFill>
          <a:ln xmlns:a="http://schemas.openxmlformats.org/drawingml/2006/main" w="0">
            <a:solidFill>
              <a:srgbClr val="7357FF"/>
            </a:solidFill>
            <a:prstDash val="solid"/>
          </a:ln>
        </p:spPr>
      </p:sp>
      <p:sp>
        <p:nvSpPr>
          <p:cNvPr id="3" name="brand-orbit-2">
            <a:extLst xmlns:a="http://schemas.openxmlformats.org/drawingml/2006/main">
              <a:ext uri="{FF2B5EF4-FFF2-40B4-BE49-F238E27FC236}">
                <a16:creationId xmlns:a16="http://schemas.microsoft.com/office/drawing/2014/main" id="{1984ABC8-81BA-4780-9644-6B304DF8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33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D7C3"/>
          </a:solidFill>
          <a:ln xmlns:a="http://schemas.openxmlformats.org/drawingml/2006/main" w="0">
            <a:solidFill>
              <a:srgbClr val="23D7C3"/>
            </a:solidFill>
            <a:prstDash val="solid"/>
          </a:ln>
        </p:spPr>
      </p:sp>
      <p:sp>
        <p:nvSpPr>
          <p:cNvPr id="4" name="pill-strategie a positioning">
            <a:extLst xmlns:a="http://schemas.openxmlformats.org/drawingml/2006/main">
              <a:ext uri="{FF2B5EF4-FFF2-40B4-BE49-F238E27FC236}">
                <a16:creationId xmlns:a16="http://schemas.microsoft.com/office/drawing/2014/main" id="{8CCDCA99-5020-423F-8082-6B172A69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9FF"/>
          </a:solidFill>
          <a:ln xmlns:a="http://schemas.openxmlformats.org/drawingml/2006/main" w="9525">
            <a:solidFill>
              <a:srgbClr val="EDE9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pill-text-strategie a positioning">
            <a:extLst xmlns:a="http://schemas.openxmlformats.org/drawingml/2006/main">
              <a:ext uri="{FF2B5EF4-FFF2-40B4-BE49-F238E27FC236}">
                <a16:creationId xmlns:a16="http://schemas.microsoft.com/office/drawing/2014/main" id="{25D39E97-E568-4D23-BA07-56FBF5FB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8625"/>
            <a:ext cx="2076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B2A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B2A9A"/>
                </a:solidFill>
                <a:latin typeface="Aptos"/>
                <a:ea typeface="Aptos"/>
                <a:cs typeface="Aptos"/>
              </a:rPr>
              <a:t>strategie a positioning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B1DD6C4-CC1E-46BE-8812-4650CA85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01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14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142A"/>
                </a:solidFill>
                <a:latin typeface="Aptos Display"/>
                <a:ea typeface="Aptos Display"/>
                <a:cs typeface="Aptos Display"/>
              </a:rPr>
              <a:t>Produkt není OMI. Produkt je automatizovaná firemní paměť.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D82AE9EF-A048-4A4B-A4FE-CCF52703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473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F6473"/>
                </a:solidFill>
                <a:latin typeface="Aptos"/>
                <a:ea typeface="Aptos"/>
                <a:cs typeface="Aptos"/>
              </a:rPr>
              <a:t>První fáze má najít přesný use-case, ICP a partnerský model. Plexima prodává výsledek: méně ztracených informací, méně ruční administrativy a lepší převod rozhovorů do workflow.</a:t>
            </a:r>
          </a:p>
        </p:txBody>
      </p:sp>
      <p:sp>
        <p:nvSpPr>
          <p:cNvPr id="8" name="area-1">
            <a:extLst xmlns:a="http://schemas.openxmlformats.org/drawingml/2006/main">
              <a:ext uri="{FF2B5EF4-FFF2-40B4-BE49-F238E27FC236}">
                <a16:creationId xmlns:a16="http://schemas.microsoft.com/office/drawing/2014/main" id="{8A350260-C5F3-4678-B595-4590BBD5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3721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area-title-1">
            <a:extLst xmlns:a="http://schemas.openxmlformats.org/drawingml/2006/main">
              <a:ext uri="{FF2B5EF4-FFF2-40B4-BE49-F238E27FC236}">
                <a16:creationId xmlns:a16="http://schemas.microsoft.com/office/drawing/2014/main" id="{B6B3A52F-0F4E-45A0-AE0C-A16E73E0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142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142A"/>
                </a:solidFill>
                <a:latin typeface="Aptos Display"/>
                <a:ea typeface="Aptos Display"/>
                <a:cs typeface="Aptos Display"/>
              </a:rPr>
              <a:t>1. Positioning</a:t>
            </a:r>
          </a:p>
        </p:txBody>
      </p:sp>
      <p:sp>
        <p:nvSpPr>
          <p:cNvPr id="10" name="pill-co prodáváme">
            <a:extLst xmlns:a="http://schemas.openxmlformats.org/drawingml/2006/main">
              <a:ext uri="{FF2B5EF4-FFF2-40B4-BE49-F238E27FC236}">
                <a16:creationId xmlns:a16="http://schemas.microsoft.com/office/drawing/2014/main" id="{EC98345B-BF6E-4CBB-8BA6-6467CDEA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686050"/>
            <a:ext cx="1409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9FF"/>
          </a:solidFill>
          <a:ln xmlns:a="http://schemas.openxmlformats.org/drawingml/2006/main" w="9525">
            <a:solidFill>
              <a:srgbClr val="EDE9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pill-text-co prodáváme">
            <a:extLst xmlns:a="http://schemas.openxmlformats.org/drawingml/2006/main">
              <a:ext uri="{FF2B5EF4-FFF2-40B4-BE49-F238E27FC236}">
                <a16:creationId xmlns:a16="http://schemas.microsoft.com/office/drawing/2014/main" id="{9249A30B-A9B3-4E37-879E-99B9073B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527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B2A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B2A9A"/>
                </a:solidFill>
                <a:latin typeface="Aptos"/>
                <a:ea typeface="Aptos"/>
                <a:cs typeface="Aptos"/>
              </a:rPr>
              <a:t>co prodáváme</a:t>
            </a:r>
          </a:p>
        </p:txBody>
      </p:sp>
      <p:sp>
        <p:nvSpPr>
          <p:cNvPr id="12" name="dot-Ne hardware,">
            <a:extLst xmlns:a="http://schemas.openxmlformats.org/drawingml/2006/main">
              <a:ext uri="{FF2B5EF4-FFF2-40B4-BE49-F238E27FC236}">
                <a16:creationId xmlns:a16="http://schemas.microsoft.com/office/drawing/2014/main" id="{412A232B-EB75-4475-A584-C9D6C9D9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90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7FF"/>
          </a:solidFill>
          <a:ln xmlns:a="http://schemas.openxmlformats.org/drawingml/2006/main" w="0">
            <a:solidFill>
              <a:srgbClr val="7357FF"/>
            </a:solidFill>
            <a:prstDash val="solid"/>
          </a:ln>
        </p:spPr>
      </p:sp>
      <p:sp>
        <p:nvSpPr>
          <p:cNvPr id="13" name="bullet-Ne hardware, ale slu">
            <a:extLst xmlns:a="http://schemas.openxmlformats.org/drawingml/2006/main">
              <a:ext uri="{FF2B5EF4-FFF2-40B4-BE49-F238E27FC236}">
                <a16:creationId xmlns:a16="http://schemas.microsoft.com/office/drawing/2014/main" id="{72601EAE-9C8C-4C9B-93C7-0C388D95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124200"/>
            <a:ext cx="4600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4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142A"/>
                </a:solidFill>
                <a:latin typeface="Aptos"/>
                <a:ea typeface="Aptos"/>
                <a:cs typeface="Aptos"/>
              </a:rPr>
              <a:t>Ne hardware, ale službu nad konverzacemi.</a:t>
            </a:r>
          </a:p>
        </p:txBody>
      </p:sp>
      <p:sp>
        <p:nvSpPr>
          <p:cNvPr id="14" name="dot-OMI = vstup;">
            <a:extLst xmlns:a="http://schemas.openxmlformats.org/drawingml/2006/main">
              <a:ext uri="{FF2B5EF4-FFF2-40B4-BE49-F238E27FC236}">
                <a16:creationId xmlns:a16="http://schemas.microsoft.com/office/drawing/2014/main" id="{363DE5D0-4EAA-4DD1-81B8-AE997761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95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7FF"/>
          </a:solidFill>
          <a:ln xmlns:a="http://schemas.openxmlformats.org/drawingml/2006/main" w="0">
            <a:solidFill>
              <a:srgbClr val="7357FF"/>
            </a:solidFill>
            <a:prstDash val="solid"/>
          </a:ln>
        </p:spPr>
      </p:sp>
      <p:sp>
        <p:nvSpPr>
          <p:cNvPr id="15" name="bullet-OMI = vstup; Plexima">
            <a:extLst xmlns:a="http://schemas.openxmlformats.org/drawingml/2006/main">
              <a:ext uri="{FF2B5EF4-FFF2-40B4-BE49-F238E27FC236}">
                <a16:creationId xmlns:a16="http://schemas.microsoft.com/office/drawing/2014/main" id="{52188064-A0DE-4E17-AB0D-4CE621FA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429000"/>
            <a:ext cx="4600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4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142A"/>
                </a:solidFill>
                <a:latin typeface="Aptos"/>
                <a:ea typeface="Aptos"/>
                <a:cs typeface="Aptos"/>
              </a:rPr>
              <a:t>OMI = vstup; Plexima = integrace a proces.</a:t>
            </a:r>
          </a:p>
        </p:txBody>
      </p:sp>
      <p:sp>
        <p:nvSpPr>
          <p:cNvPr id="16" name="dot-Hardware drž">
            <a:extLst xmlns:a="http://schemas.openxmlformats.org/drawingml/2006/main">
              <a:ext uri="{FF2B5EF4-FFF2-40B4-BE49-F238E27FC236}">
                <a16:creationId xmlns:a16="http://schemas.microsoft.com/office/drawing/2014/main" id="{006E94F8-FF6F-47A0-A2CD-92499C4C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00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7FF"/>
          </a:solidFill>
          <a:ln xmlns:a="http://schemas.openxmlformats.org/drawingml/2006/main" w="0">
            <a:solidFill>
              <a:srgbClr val="7357FF"/>
            </a:solidFill>
            <a:prstDash val="solid"/>
          </a:ln>
        </p:spPr>
      </p:sp>
      <p:sp>
        <p:nvSpPr>
          <p:cNvPr id="17" name="bullet-Hardware držet jako ">
            <a:extLst xmlns:a="http://schemas.openxmlformats.org/drawingml/2006/main">
              <a:ext uri="{FF2B5EF4-FFF2-40B4-BE49-F238E27FC236}">
                <a16:creationId xmlns:a16="http://schemas.microsoft.com/office/drawing/2014/main" id="{5A758DA8-30AD-49D9-887D-F1DD36A5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33800"/>
            <a:ext cx="4600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4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142A"/>
                </a:solidFill>
                <a:latin typeface="Aptos"/>
                <a:ea typeface="Aptos"/>
                <a:cs typeface="Aptos"/>
              </a:rPr>
              <a:t>Hardware držet jako vyměnitelnou vrstvu.</a:t>
            </a:r>
          </a:p>
        </p:txBody>
      </p:sp>
      <p:sp>
        <p:nvSpPr>
          <p:cNvPr id="18" name="area-2">
            <a:extLst xmlns:a="http://schemas.openxmlformats.org/drawingml/2006/main">
              <a:ext uri="{FF2B5EF4-FFF2-40B4-BE49-F238E27FC236}">
                <a16:creationId xmlns:a16="http://schemas.microsoft.com/office/drawing/2014/main" id="{73971209-C12C-42E1-8576-0B00E6A1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53721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area-title-2">
            <a:extLst xmlns:a="http://schemas.openxmlformats.org/drawingml/2006/main">
              <a:ext uri="{FF2B5EF4-FFF2-40B4-BE49-F238E27FC236}">
                <a16:creationId xmlns:a16="http://schemas.microsoft.com/office/drawing/2014/main" id="{12EC71B1-1EB5-410A-B075-8CE5CB5A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051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142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142A"/>
                </a:solidFill>
                <a:latin typeface="Aptos Display"/>
                <a:ea typeface="Aptos Display"/>
                <a:cs typeface="Aptos Display"/>
              </a:rPr>
              <a:t>2. ICP + painpointy</a:t>
            </a:r>
          </a:p>
        </p:txBody>
      </p:sp>
      <p:sp>
        <p:nvSpPr>
          <p:cNvPr id="20" name="pill-komu to bolí">
            <a:extLst xmlns:a="http://schemas.openxmlformats.org/drawingml/2006/main">
              <a:ext uri="{FF2B5EF4-FFF2-40B4-BE49-F238E27FC236}">
                <a16:creationId xmlns:a16="http://schemas.microsoft.com/office/drawing/2014/main" id="{586EA19E-2403-4E89-9E79-BFD41345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86050"/>
            <a:ext cx="1409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9FF"/>
          </a:solidFill>
          <a:ln xmlns:a="http://schemas.openxmlformats.org/drawingml/2006/main" w="9525">
            <a:solidFill>
              <a:srgbClr val="EDE9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pill-text-komu to bolí">
            <a:extLst xmlns:a="http://schemas.openxmlformats.org/drawingml/2006/main">
              <a:ext uri="{FF2B5EF4-FFF2-40B4-BE49-F238E27FC236}">
                <a16:creationId xmlns:a16="http://schemas.microsoft.com/office/drawing/2014/main" id="{435B568D-F692-4FBD-9307-2E3882A6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527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B2A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B2A9A"/>
                </a:solidFill>
                <a:latin typeface="Aptos"/>
                <a:ea typeface="Aptos"/>
                <a:cs typeface="Aptos"/>
              </a:rPr>
              <a:t>komu to bolí</a:t>
            </a:r>
          </a:p>
        </p:txBody>
      </p:sp>
      <p:sp>
        <p:nvSpPr>
          <p:cNvPr id="22" name="dot-Firmy s pora">
            <a:extLst xmlns:a="http://schemas.openxmlformats.org/drawingml/2006/main">
              <a:ext uri="{FF2B5EF4-FFF2-40B4-BE49-F238E27FC236}">
                <a16:creationId xmlns:a16="http://schemas.microsoft.com/office/drawing/2014/main" id="{A375472D-0B58-410E-B692-47A31997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90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7FF"/>
          </a:solidFill>
          <a:ln xmlns:a="http://schemas.openxmlformats.org/drawingml/2006/main" w="0">
            <a:solidFill>
              <a:srgbClr val="7357FF"/>
            </a:solidFill>
            <a:prstDash val="solid"/>
          </a:ln>
        </p:spPr>
      </p:sp>
      <p:sp>
        <p:nvSpPr>
          <p:cNvPr id="23" name="bullet-Firmy s poradami, pr">
            <a:extLst xmlns:a="http://schemas.openxmlformats.org/drawingml/2006/main">
              <a:ext uri="{FF2B5EF4-FFF2-40B4-BE49-F238E27FC236}">
                <a16:creationId xmlns:a16="http://schemas.microsoft.com/office/drawing/2014/main" id="{3511BAEB-37B1-4505-BAD8-0CE25EA0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24200"/>
            <a:ext cx="4600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4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142A"/>
                </a:solidFill>
                <a:latin typeface="Aptos"/>
                <a:ea typeface="Aptos"/>
                <a:cs typeface="Aptos"/>
              </a:rPr>
              <a:t>Firmy s poradami, projekty a předáváním informací.</a:t>
            </a:r>
          </a:p>
        </p:txBody>
      </p:sp>
      <p:sp>
        <p:nvSpPr>
          <p:cNvPr id="24" name="dot-CEO / COO / ">
            <a:extLst xmlns:a="http://schemas.openxmlformats.org/drawingml/2006/main">
              <a:ext uri="{FF2B5EF4-FFF2-40B4-BE49-F238E27FC236}">
                <a16:creationId xmlns:a16="http://schemas.microsoft.com/office/drawing/2014/main" id="{6DE93EE5-3CB8-40E3-A0CC-44D7D06E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95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7FF"/>
          </a:solidFill>
          <a:ln xmlns:a="http://schemas.openxmlformats.org/drawingml/2006/main" w="0">
            <a:solidFill>
              <a:srgbClr val="7357FF"/>
            </a:solidFill>
            <a:prstDash val="solid"/>
          </a:ln>
        </p:spPr>
      </p:sp>
      <p:sp>
        <p:nvSpPr>
          <p:cNvPr id="25" name="bullet-CEO / COO / CTO / He">
            <a:extLst xmlns:a="http://schemas.openxmlformats.org/drawingml/2006/main">
              <a:ext uri="{FF2B5EF4-FFF2-40B4-BE49-F238E27FC236}">
                <a16:creationId xmlns:a16="http://schemas.microsoft.com/office/drawing/2014/main" id="{CA698287-C7D9-42F1-97B2-BD45F158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429000"/>
            <a:ext cx="4600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4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142A"/>
                </a:solidFill>
                <a:latin typeface="Aptos"/>
                <a:ea typeface="Aptos"/>
                <a:cs typeface="Aptos"/>
              </a:rPr>
              <a:t>CEO / COO / CTO / Head of Operations.</a:t>
            </a:r>
          </a:p>
        </p:txBody>
      </p:sp>
      <p:sp>
        <p:nvSpPr>
          <p:cNvPr id="26" name="dot-Ztracené záp">
            <a:extLst xmlns:a="http://schemas.openxmlformats.org/drawingml/2006/main">
              <a:ext uri="{FF2B5EF4-FFF2-40B4-BE49-F238E27FC236}">
                <a16:creationId xmlns:a16="http://schemas.microsoft.com/office/drawing/2014/main" id="{AAD58422-DD33-40CE-8378-FEE31A46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00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7FF"/>
          </a:solidFill>
          <a:ln xmlns:a="http://schemas.openxmlformats.org/drawingml/2006/main" w="0">
            <a:solidFill>
              <a:srgbClr val="7357FF"/>
            </a:solidFill>
            <a:prstDash val="solid"/>
          </a:ln>
        </p:spPr>
      </p:sp>
      <p:sp>
        <p:nvSpPr>
          <p:cNvPr id="27" name="bullet-Ztracené zápisy, nej">
            <a:extLst xmlns:a="http://schemas.openxmlformats.org/drawingml/2006/main">
              <a:ext uri="{FF2B5EF4-FFF2-40B4-BE49-F238E27FC236}">
                <a16:creationId xmlns:a16="http://schemas.microsoft.com/office/drawing/2014/main" id="{87C6F59F-8EA3-41AF-B67F-65904931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733800"/>
            <a:ext cx="4600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4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142A"/>
                </a:solidFill>
                <a:latin typeface="Aptos"/>
                <a:ea typeface="Aptos"/>
                <a:cs typeface="Aptos"/>
              </a:rPr>
              <a:t>Ztracené zápisy, nejasné úkoly, know-how v hlavách lidí.</a:t>
            </a:r>
          </a:p>
        </p:txBody>
      </p:sp>
      <p:sp>
        <p:nvSpPr>
          <p:cNvPr id="28" name="area-3">
            <a:extLst xmlns:a="http://schemas.openxmlformats.org/drawingml/2006/main">
              <a:ext uri="{FF2B5EF4-FFF2-40B4-BE49-F238E27FC236}">
                <a16:creationId xmlns:a16="http://schemas.microsoft.com/office/drawing/2014/main" id="{700FCC76-896D-4AAF-8527-A0672F6E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53721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area-title-3">
            <a:extLst xmlns:a="http://schemas.openxmlformats.org/drawingml/2006/main">
              <a:ext uri="{FF2B5EF4-FFF2-40B4-BE49-F238E27FC236}">
                <a16:creationId xmlns:a16="http://schemas.microsoft.com/office/drawing/2014/main" id="{943B7157-3330-4C66-8787-1A369FB1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142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142A"/>
                </a:solidFill>
                <a:latin typeface="Aptos Display"/>
                <a:ea typeface="Aptos Display"/>
                <a:cs typeface="Aptos Display"/>
              </a:rPr>
              <a:t>3. Use-casy pro validaci</a:t>
            </a:r>
          </a:p>
        </p:txBody>
      </p:sp>
      <p:sp>
        <p:nvSpPr>
          <p:cNvPr id="30" name="pill-co ukázat">
            <a:extLst xmlns:a="http://schemas.openxmlformats.org/drawingml/2006/main">
              <a:ext uri="{FF2B5EF4-FFF2-40B4-BE49-F238E27FC236}">
                <a16:creationId xmlns:a16="http://schemas.microsoft.com/office/drawing/2014/main" id="{3D8E5368-595D-4C94-BF60-BE0D9CE4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610100"/>
            <a:ext cx="1409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9FF"/>
          </a:solidFill>
          <a:ln xmlns:a="http://schemas.openxmlformats.org/drawingml/2006/main" w="9525">
            <a:solidFill>
              <a:srgbClr val="EDE9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pill-text-co ukázat">
            <a:extLst xmlns:a="http://schemas.openxmlformats.org/drawingml/2006/main">
              <a:ext uri="{FF2B5EF4-FFF2-40B4-BE49-F238E27FC236}">
                <a16:creationId xmlns:a16="http://schemas.microsoft.com/office/drawing/2014/main" id="{252D852A-A5A9-4E44-BFCC-2F4938A9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7677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B2A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B2A9A"/>
                </a:solidFill>
                <a:latin typeface="Aptos"/>
                <a:ea typeface="Aptos"/>
                <a:cs typeface="Aptos"/>
              </a:rPr>
              <a:t>co ukázat</a:t>
            </a:r>
          </a:p>
        </p:txBody>
      </p:sp>
      <p:sp>
        <p:nvSpPr>
          <p:cNvPr id="32" name="dot-Schůzka -&gt; s">
            <a:extLst xmlns:a="http://schemas.openxmlformats.org/drawingml/2006/main">
              <a:ext uri="{FF2B5EF4-FFF2-40B4-BE49-F238E27FC236}">
                <a16:creationId xmlns:a16="http://schemas.microsoft.com/office/drawing/2014/main" id="{3749C45F-F690-42C9-AC73-3BCA7835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7FF"/>
          </a:solidFill>
          <a:ln xmlns:a="http://schemas.openxmlformats.org/drawingml/2006/main" w="0">
            <a:solidFill>
              <a:srgbClr val="7357FF"/>
            </a:solidFill>
            <a:prstDash val="solid"/>
          </a:ln>
        </p:spPr>
      </p:sp>
      <p:sp>
        <p:nvSpPr>
          <p:cNvPr id="33" name="bullet-Schůzka -&gt; shrnutí -">
            <a:extLst xmlns:a="http://schemas.openxmlformats.org/drawingml/2006/main">
              <a:ext uri="{FF2B5EF4-FFF2-40B4-BE49-F238E27FC236}">
                <a16:creationId xmlns:a16="http://schemas.microsoft.com/office/drawing/2014/main" id="{9F55D996-DCB2-4770-AEE2-F7FC29BF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048250"/>
            <a:ext cx="4600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4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142A"/>
                </a:solidFill>
                <a:latin typeface="Aptos"/>
                <a:ea typeface="Aptos"/>
                <a:cs typeface="Aptos"/>
              </a:rPr>
              <a:t>Schůzka -&gt; shrnutí -&gt; úkoly.</a:t>
            </a:r>
          </a:p>
        </p:txBody>
      </p:sp>
      <p:sp>
        <p:nvSpPr>
          <p:cNvPr id="34" name="dot-Interní know">
            <a:extLst xmlns:a="http://schemas.openxmlformats.org/drawingml/2006/main">
              <a:ext uri="{FF2B5EF4-FFF2-40B4-BE49-F238E27FC236}">
                <a16:creationId xmlns:a16="http://schemas.microsoft.com/office/drawing/2014/main" id="{86B73BB5-8454-464B-B3CD-EAD8D98C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19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7FF"/>
          </a:solidFill>
          <a:ln xmlns:a="http://schemas.openxmlformats.org/drawingml/2006/main" w="0">
            <a:solidFill>
              <a:srgbClr val="7357FF"/>
            </a:solidFill>
            <a:prstDash val="solid"/>
          </a:ln>
        </p:spPr>
      </p:sp>
      <p:sp>
        <p:nvSpPr>
          <p:cNvPr id="35" name="bullet-Interní know-how -&gt; ">
            <a:extLst xmlns:a="http://schemas.openxmlformats.org/drawingml/2006/main">
              <a:ext uri="{FF2B5EF4-FFF2-40B4-BE49-F238E27FC236}">
                <a16:creationId xmlns:a16="http://schemas.microsoft.com/office/drawing/2014/main" id="{024E89E8-8E2E-418C-8269-4263703E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353050"/>
            <a:ext cx="4600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4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142A"/>
                </a:solidFill>
                <a:latin typeface="Aptos"/>
                <a:ea typeface="Aptos"/>
                <a:cs typeface="Aptos"/>
              </a:rPr>
              <a:t>Interní know-how -&gt; znalostní báze.</a:t>
            </a:r>
          </a:p>
        </p:txBody>
      </p:sp>
      <p:sp>
        <p:nvSpPr>
          <p:cNvPr id="36" name="dot-Provozní poz">
            <a:extLst xmlns:a="http://schemas.openxmlformats.org/drawingml/2006/main">
              <a:ext uri="{FF2B5EF4-FFF2-40B4-BE49-F238E27FC236}">
                <a16:creationId xmlns:a16="http://schemas.microsoft.com/office/drawing/2014/main" id="{B6145D99-BCBC-433C-95A5-6CE28D36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24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7FF"/>
          </a:solidFill>
          <a:ln xmlns:a="http://schemas.openxmlformats.org/drawingml/2006/main" w="0">
            <a:solidFill>
              <a:srgbClr val="7357FF"/>
            </a:solidFill>
            <a:prstDash val="solid"/>
          </a:ln>
        </p:spPr>
      </p:sp>
      <p:sp>
        <p:nvSpPr>
          <p:cNvPr id="37" name="bullet-Provozní poznámka -&gt;">
            <a:extLst xmlns:a="http://schemas.openxmlformats.org/drawingml/2006/main">
              <a:ext uri="{FF2B5EF4-FFF2-40B4-BE49-F238E27FC236}">
                <a16:creationId xmlns:a16="http://schemas.microsoft.com/office/drawing/2014/main" id="{92E4ACE7-DE0C-4020-AE90-55CA6774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657850"/>
            <a:ext cx="4600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4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142A"/>
                </a:solidFill>
                <a:latin typeface="Aptos"/>
                <a:ea typeface="Aptos"/>
                <a:cs typeface="Aptos"/>
              </a:rPr>
              <a:t>Provozní poznámka -&gt; report / systémový záznam.</a:t>
            </a:r>
          </a:p>
        </p:txBody>
      </p:sp>
      <p:sp>
        <p:nvSpPr>
          <p:cNvPr id="38" name="area-4">
            <a:extLst xmlns:a="http://schemas.openxmlformats.org/drawingml/2006/main">
              <a:ext uri="{FF2B5EF4-FFF2-40B4-BE49-F238E27FC236}">
                <a16:creationId xmlns:a16="http://schemas.microsoft.com/office/drawing/2014/main" id="{68956414-0D15-4A05-8E45-96467D8A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00550"/>
            <a:ext cx="53721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area-title-4">
            <a:extLst xmlns:a="http://schemas.openxmlformats.org/drawingml/2006/main">
              <a:ext uri="{FF2B5EF4-FFF2-40B4-BE49-F238E27FC236}">
                <a16:creationId xmlns:a16="http://schemas.microsoft.com/office/drawing/2014/main" id="{15D5003C-828F-4775-B91F-E18A12C7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29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142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142A"/>
                </a:solidFill>
                <a:latin typeface="Aptos Display"/>
                <a:ea typeface="Aptos Display"/>
                <a:cs typeface="Aptos Display"/>
              </a:rPr>
              <a:t>4. Partnerstvi s OMI</a:t>
            </a:r>
          </a:p>
        </p:txBody>
      </p:sp>
      <p:sp>
        <p:nvSpPr>
          <p:cNvPr id="40" name="pill-co vyjednat">
            <a:extLst xmlns:a="http://schemas.openxmlformats.org/drawingml/2006/main">
              <a:ext uri="{FF2B5EF4-FFF2-40B4-BE49-F238E27FC236}">
                <a16:creationId xmlns:a16="http://schemas.microsoft.com/office/drawing/2014/main" id="{3F182124-409E-490A-9AC1-ECF2D21E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610100"/>
            <a:ext cx="1409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BF8"/>
          </a:solidFill>
          <a:ln xmlns:a="http://schemas.openxmlformats.org/drawingml/2006/main" w="9525">
            <a:solidFill>
              <a:srgbClr val="E8FB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pill-text-co vyjednat">
            <a:extLst xmlns:a="http://schemas.openxmlformats.org/drawingml/2006/main">
              <a:ext uri="{FF2B5EF4-FFF2-40B4-BE49-F238E27FC236}">
                <a16:creationId xmlns:a16="http://schemas.microsoft.com/office/drawing/2014/main" id="{CCBC5053-0CF7-4AB3-9D85-E02A9CD4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7677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79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6796E"/>
                </a:solidFill>
                <a:latin typeface="Aptos"/>
                <a:ea typeface="Aptos"/>
                <a:cs typeface="Aptos"/>
              </a:rPr>
              <a:t>co vyjednat</a:t>
            </a:r>
          </a:p>
        </p:txBody>
      </p:sp>
      <p:sp>
        <p:nvSpPr>
          <p:cNvPr id="42" name="dot-Reseller / i">
            <a:extLst xmlns:a="http://schemas.openxmlformats.org/drawingml/2006/main">
              <a:ext uri="{FF2B5EF4-FFF2-40B4-BE49-F238E27FC236}">
                <a16:creationId xmlns:a16="http://schemas.microsoft.com/office/drawing/2014/main" id="{BBAB2159-8639-4DBE-A6BA-63A8752F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7FF"/>
          </a:solidFill>
          <a:ln xmlns:a="http://schemas.openxmlformats.org/drawingml/2006/main" w="0">
            <a:solidFill>
              <a:srgbClr val="7357FF"/>
            </a:solidFill>
            <a:prstDash val="solid"/>
          </a:ln>
        </p:spPr>
      </p:sp>
      <p:sp>
        <p:nvSpPr>
          <p:cNvPr id="43" name="bullet-Reseller / integrati">
            <a:extLst xmlns:a="http://schemas.openxmlformats.org/drawingml/2006/main">
              <a:ext uri="{FF2B5EF4-FFF2-40B4-BE49-F238E27FC236}">
                <a16:creationId xmlns:a16="http://schemas.microsoft.com/office/drawing/2014/main" id="{1E4C35CE-410B-4874-B04D-AE3C347E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250"/>
            <a:ext cx="4600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4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142A"/>
                </a:solidFill>
                <a:latin typeface="Aptos"/>
                <a:ea typeface="Aptos"/>
                <a:cs typeface="Aptos"/>
              </a:rPr>
              <a:t>Reseller / integration partner model pro CZ/SK.</a:t>
            </a:r>
          </a:p>
        </p:txBody>
      </p:sp>
      <p:sp>
        <p:nvSpPr>
          <p:cNvPr id="44" name="dot-Pricing, sub">
            <a:extLst xmlns:a="http://schemas.openxmlformats.org/drawingml/2006/main">
              <a:ext uri="{FF2B5EF4-FFF2-40B4-BE49-F238E27FC236}">
                <a16:creationId xmlns:a16="http://schemas.microsoft.com/office/drawing/2014/main" id="{783394F4-894F-4276-B7BD-31F8801A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19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7FF"/>
          </a:solidFill>
          <a:ln xmlns:a="http://schemas.openxmlformats.org/drawingml/2006/main" w="0">
            <a:solidFill>
              <a:srgbClr val="7357FF"/>
            </a:solidFill>
            <a:prstDash val="solid"/>
          </a:ln>
        </p:spPr>
      </p:sp>
      <p:sp>
        <p:nvSpPr>
          <p:cNvPr id="45" name="bullet-Pricing, subscriptio">
            <a:extLst xmlns:a="http://schemas.openxmlformats.org/drawingml/2006/main">
              <a:ext uri="{FF2B5EF4-FFF2-40B4-BE49-F238E27FC236}">
                <a16:creationId xmlns:a16="http://schemas.microsoft.com/office/drawing/2014/main" id="{4BFD8325-8DDD-4918-9F0D-5A0FFA48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353050"/>
            <a:ext cx="4600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4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142A"/>
                </a:solidFill>
                <a:latin typeface="Aptos"/>
                <a:ea typeface="Aptos"/>
                <a:cs typeface="Aptos"/>
              </a:rPr>
              <a:t>Pricing, subscription, marže, support, logistika.</a:t>
            </a:r>
          </a:p>
        </p:txBody>
      </p:sp>
      <p:sp>
        <p:nvSpPr>
          <p:cNvPr id="46" name="dot-Podpora pilo">
            <a:extLst xmlns:a="http://schemas.openxmlformats.org/drawingml/2006/main">
              <a:ext uri="{FF2B5EF4-FFF2-40B4-BE49-F238E27FC236}">
                <a16:creationId xmlns:a16="http://schemas.microsoft.com/office/drawing/2014/main" id="{55C03AB6-352E-4382-AD58-0E05E440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724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7FF"/>
          </a:solidFill>
          <a:ln xmlns:a="http://schemas.openxmlformats.org/drawingml/2006/main" w="0">
            <a:solidFill>
              <a:srgbClr val="7357FF"/>
            </a:solidFill>
            <a:prstDash val="solid"/>
          </a:ln>
        </p:spPr>
      </p:sp>
      <p:sp>
        <p:nvSpPr>
          <p:cNvPr id="47" name="bullet-Podpora pilotu: zaří">
            <a:extLst xmlns:a="http://schemas.openxmlformats.org/drawingml/2006/main">
              <a:ext uri="{FF2B5EF4-FFF2-40B4-BE49-F238E27FC236}">
                <a16:creationId xmlns:a16="http://schemas.microsoft.com/office/drawing/2014/main" id="{60B47984-E0CE-4BDC-B419-8DCC2293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657850"/>
            <a:ext cx="4600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4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142A"/>
                </a:solidFill>
                <a:latin typeface="Aptos"/>
                <a:ea typeface="Aptos"/>
                <a:cs typeface="Aptos"/>
              </a:rPr>
              <a:t>Podpora pilotu: zařízení, technická součinnost.</a:t>
            </a:r>
          </a:p>
        </p:txBody>
      </p:sp>
      <p:sp>
        <p:nvSpPr>
          <p:cNvPr id="4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5AC5E19-E3B5-4109-8FFC-E605AF5A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6473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F6473"/>
                </a:solidFill>
                <a:latin typeface="Aptos"/>
                <a:ea typeface="Aptos"/>
                <a:cs typeface="Aptos"/>
              </a:rPr>
              <a:t>Plexima x OMI | produktová strategie</a:t>
            </a:r>
          </a:p>
        </p:txBody>
      </p:sp>
      <p:sp>
        <p:nvSpPr>
          <p:cNvPr id="4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62E0699-B323-474D-B307-4594973B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473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F6473"/>
                </a:solidFill>
                <a:latin typeface="Aptos"/>
                <a:ea typeface="Aptos"/>
                <a:cs typeface="Aptos"/>
              </a:rPr>
              <a:t>pracovní draft</a:t>
            </a:r>
          </a:p>
        </p:txBody>
      </p:sp>
    </p:spTree>
    <p:extLst>
      <p:ext uri="{BB962C8B-B14F-4D97-AF65-F5344CB8AC3E}">
        <p14:creationId xmlns:p14="http://schemas.microsoft.com/office/powerpoint/2010/main" val="12424057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E71D045F-ED54-4DB1-A260-6EEA51A5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57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7357FF"/>
                </a:solidFill>
                <a:latin typeface="Aptos Display"/>
                <a:ea typeface="Aptos Display"/>
                <a:cs typeface="Aptos Display"/>
              </a:rPr>
              <a:t>plexima.io</a:t>
            </a:r>
          </a:p>
        </p:txBody>
      </p:sp>
      <p:sp>
        <p:nvSpPr>
          <p:cNvPr id="2" name="brand-orbit-1">
            <a:extLst xmlns:a="http://schemas.openxmlformats.org/drawingml/2006/main">
              <a:ext uri="{FF2B5EF4-FFF2-40B4-BE49-F238E27FC236}">
                <a16:creationId xmlns:a16="http://schemas.microsoft.com/office/drawing/2014/main" id="{E04036B6-4E54-471B-8433-97980E22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9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7FF"/>
          </a:solidFill>
          <a:ln xmlns:a="http://schemas.openxmlformats.org/drawingml/2006/main" w="0">
            <a:solidFill>
              <a:srgbClr val="7357FF"/>
            </a:solidFill>
            <a:prstDash val="solid"/>
          </a:ln>
        </p:spPr>
      </p:sp>
      <p:sp>
        <p:nvSpPr>
          <p:cNvPr id="3" name="brand-orbit-2">
            <a:extLst xmlns:a="http://schemas.openxmlformats.org/drawingml/2006/main">
              <a:ext uri="{FF2B5EF4-FFF2-40B4-BE49-F238E27FC236}">
                <a16:creationId xmlns:a16="http://schemas.microsoft.com/office/drawing/2014/main" id="{1DD0DF3E-1D55-48C5-B00F-47E22D5F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33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D7C3"/>
          </a:solidFill>
          <a:ln xmlns:a="http://schemas.openxmlformats.org/drawingml/2006/main" w="0">
            <a:solidFill>
              <a:srgbClr val="23D7C3"/>
            </a:solidFill>
            <a:prstDash val="solid"/>
          </a:ln>
        </p:spPr>
      </p:sp>
      <p:sp>
        <p:nvSpPr>
          <p:cNvPr id="4" name="pill-výstupy první fáze">
            <a:extLst xmlns:a="http://schemas.openxmlformats.org/drawingml/2006/main">
              <a:ext uri="{FF2B5EF4-FFF2-40B4-BE49-F238E27FC236}">
                <a16:creationId xmlns:a16="http://schemas.microsoft.com/office/drawing/2014/main" id="{43811146-F180-4AA0-A552-6683859F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9FF"/>
          </a:solidFill>
          <a:ln xmlns:a="http://schemas.openxmlformats.org/drawingml/2006/main" w="9525">
            <a:solidFill>
              <a:srgbClr val="EDE9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pill-text-výstupy první fáze">
            <a:extLst xmlns:a="http://schemas.openxmlformats.org/drawingml/2006/main">
              <a:ext uri="{FF2B5EF4-FFF2-40B4-BE49-F238E27FC236}">
                <a16:creationId xmlns:a16="http://schemas.microsoft.com/office/drawing/2014/main" id="{9A601894-0AD5-491D-9C4B-0043DE9F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8625"/>
            <a:ext cx="2076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B2A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B2A9A"/>
                </a:solidFill>
                <a:latin typeface="Aptos"/>
                <a:ea typeface="Aptos"/>
                <a:cs typeface="Aptos"/>
              </a:rPr>
              <a:t>výstupy první fáze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406CF2F-0F50-43C4-ACD5-09F809FE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01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14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142A"/>
                </a:solidFill>
                <a:latin typeface="Aptos Display"/>
                <a:ea typeface="Aptos Display"/>
                <a:cs typeface="Aptos Display"/>
              </a:rPr>
              <a:t>Co musí být hotové, aby se dalo jít do trhu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A0D9D436-7AAC-4C49-BC6E-3A22B0F0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473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F6473"/>
                </a:solidFill>
                <a:latin typeface="Aptos"/>
                <a:ea typeface="Aptos"/>
                <a:cs typeface="Aptos"/>
              </a:rPr>
              <a:t>První fáze není velký launch. Je to příprava jasné nabídky, validace segmentu a seznam firem pro pilotní rozhovory.</a:t>
            </a:r>
          </a:p>
        </p:txBody>
      </p:sp>
      <p:sp>
        <p:nvSpPr>
          <p:cNvPr id="8" name="flow-1">
            <a:extLst xmlns:a="http://schemas.openxmlformats.org/drawingml/2006/main">
              <a:ext uri="{FF2B5EF4-FFF2-40B4-BE49-F238E27FC236}">
                <a16:creationId xmlns:a16="http://schemas.microsoft.com/office/drawing/2014/main" id="{3766C4CA-13F9-43F3-A8D5-C5262CCD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324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flow-num-1">
            <a:extLst xmlns:a="http://schemas.openxmlformats.org/drawingml/2006/main">
              <a:ext uri="{FF2B5EF4-FFF2-40B4-BE49-F238E27FC236}">
                <a16:creationId xmlns:a16="http://schemas.microsoft.com/office/drawing/2014/main" id="{8ACB5490-6B45-47D9-8B70-72FC9B4D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357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7357F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0" name="flow-name-1">
            <a:extLst xmlns:a="http://schemas.openxmlformats.org/drawingml/2006/main">
              <a:ext uri="{FF2B5EF4-FFF2-40B4-BE49-F238E27FC236}">
                <a16:creationId xmlns:a16="http://schemas.microsoft.com/office/drawing/2014/main" id="{E9174FC7-CB55-44CC-868B-CF105F0A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670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14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142A"/>
                </a:solidFill>
                <a:latin typeface="Aptos Display"/>
                <a:ea typeface="Aptos Display"/>
                <a:cs typeface="Aptos Display"/>
              </a:rPr>
              <a:t>Strategie</a:t>
            </a:r>
          </a:p>
        </p:txBody>
      </p:sp>
      <p:sp>
        <p:nvSpPr>
          <p:cNvPr id="11" name="flow-desc-1">
            <a:extLst xmlns:a="http://schemas.openxmlformats.org/drawingml/2006/main">
              <a:ext uri="{FF2B5EF4-FFF2-40B4-BE49-F238E27FC236}">
                <a16:creationId xmlns:a16="http://schemas.microsoft.com/office/drawing/2014/main" id="{A87E9E8D-CC6B-4EE2-BEF8-C65B53A2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473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F6473"/>
                </a:solidFill>
                <a:latin typeface="Aptos"/>
                <a:ea typeface="Aptos"/>
                <a:cs typeface="Aptos"/>
              </a:rPr>
              <a:t>ICP, painpointy, hlavní promise</a:t>
            </a:r>
          </a:p>
        </p:txBody>
      </p:sp>
      <p:sp>
        <p:nvSpPr>
          <p:cNvPr id="12" name="chevron-1">
            <a:extLst xmlns:a="http://schemas.openxmlformats.org/drawingml/2006/main">
              <a:ext uri="{FF2B5EF4-FFF2-40B4-BE49-F238E27FC236}">
                <a16:creationId xmlns:a16="http://schemas.microsoft.com/office/drawing/2014/main" id="{DC4AF5EE-3A73-4874-8F0F-C772C110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33700"/>
            <a:ext cx="266700" cy="304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DE9FF"/>
          </a:solidFill>
          <a:ln xmlns:a="http://schemas.openxmlformats.org/drawingml/2006/main" w="0">
            <a:solidFill>
              <a:srgbClr val="EDE9FF"/>
            </a:solidFill>
            <a:prstDash val="solid"/>
          </a:ln>
        </p:spPr>
      </p:sp>
      <p:sp>
        <p:nvSpPr>
          <p:cNvPr id="13" name="flow-2">
            <a:extLst xmlns:a="http://schemas.openxmlformats.org/drawingml/2006/main">
              <a:ext uri="{FF2B5EF4-FFF2-40B4-BE49-F238E27FC236}">
                <a16:creationId xmlns:a16="http://schemas.microsoft.com/office/drawing/2014/main" id="{BA57091D-BD3B-4264-8CFF-75B9F679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57450"/>
            <a:ext cx="2324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flow-num-2">
            <a:extLst xmlns:a="http://schemas.openxmlformats.org/drawingml/2006/main">
              <a:ext uri="{FF2B5EF4-FFF2-40B4-BE49-F238E27FC236}">
                <a16:creationId xmlns:a16="http://schemas.microsoft.com/office/drawing/2014/main" id="{085154EB-86CE-4D67-9D83-E873031B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28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357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7357F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5" name="flow-name-2">
            <a:extLst xmlns:a="http://schemas.openxmlformats.org/drawingml/2006/main">
              <a:ext uri="{FF2B5EF4-FFF2-40B4-BE49-F238E27FC236}">
                <a16:creationId xmlns:a16="http://schemas.microsoft.com/office/drawing/2014/main" id="{00B0681C-A3F3-4D79-B9DA-3DFC09C8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670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14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142A"/>
                </a:solidFill>
                <a:latin typeface="Aptos Display"/>
                <a:ea typeface="Aptos Display"/>
                <a:cs typeface="Aptos Display"/>
              </a:rPr>
              <a:t>Nabídka</a:t>
            </a:r>
          </a:p>
        </p:txBody>
      </p:sp>
      <p:sp>
        <p:nvSpPr>
          <p:cNvPr id="16" name="flow-desc-2">
            <a:extLst xmlns:a="http://schemas.openxmlformats.org/drawingml/2006/main">
              <a:ext uri="{FF2B5EF4-FFF2-40B4-BE49-F238E27FC236}">
                <a16:creationId xmlns:a16="http://schemas.microsoft.com/office/drawing/2014/main" id="{C412404D-5AFB-44A5-9E05-34513C01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86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473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F6473"/>
                </a:solidFill>
                <a:latin typeface="Aptos"/>
                <a:ea typeface="Aptos"/>
                <a:cs typeface="Aptos"/>
              </a:rPr>
              <a:t>pilotní balíček a demo workflow</a:t>
            </a:r>
          </a:p>
        </p:txBody>
      </p:sp>
      <p:sp>
        <p:nvSpPr>
          <p:cNvPr id="17" name="chevron-2">
            <a:extLst xmlns:a="http://schemas.openxmlformats.org/drawingml/2006/main">
              <a:ext uri="{FF2B5EF4-FFF2-40B4-BE49-F238E27FC236}">
                <a16:creationId xmlns:a16="http://schemas.microsoft.com/office/drawing/2014/main" id="{0C9B77C3-1EFE-4B52-B097-C8880E4E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33700"/>
            <a:ext cx="266700" cy="304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DE9FF"/>
          </a:solidFill>
          <a:ln xmlns:a="http://schemas.openxmlformats.org/drawingml/2006/main" w="0">
            <a:solidFill>
              <a:srgbClr val="EDE9FF"/>
            </a:solidFill>
            <a:prstDash val="solid"/>
          </a:ln>
        </p:spPr>
      </p:sp>
      <p:sp>
        <p:nvSpPr>
          <p:cNvPr id="18" name="flow-3">
            <a:extLst xmlns:a="http://schemas.openxmlformats.org/drawingml/2006/main">
              <a:ext uri="{FF2B5EF4-FFF2-40B4-BE49-F238E27FC236}">
                <a16:creationId xmlns:a16="http://schemas.microsoft.com/office/drawing/2014/main" id="{DBBD754F-FDFE-4DF5-A39F-14F9C94C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57450"/>
            <a:ext cx="2324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BF8"/>
          </a:solidFill>
          <a:ln xmlns:a="http://schemas.openxmlformats.org/drawingml/2006/main" w="9525">
            <a:solidFill>
              <a:srgbClr val="B5EE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flow-num-3">
            <a:extLst xmlns:a="http://schemas.openxmlformats.org/drawingml/2006/main">
              <a:ext uri="{FF2B5EF4-FFF2-40B4-BE49-F238E27FC236}">
                <a16:creationId xmlns:a16="http://schemas.microsoft.com/office/drawing/2014/main" id="{23B4850C-E200-431A-8021-809D7015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28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796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6796E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0" name="flow-name-3">
            <a:extLst xmlns:a="http://schemas.openxmlformats.org/drawingml/2006/main">
              <a:ext uri="{FF2B5EF4-FFF2-40B4-BE49-F238E27FC236}">
                <a16:creationId xmlns:a16="http://schemas.microsoft.com/office/drawing/2014/main" id="{83C68CC6-3647-4094-95A2-D86CB7C4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670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14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142A"/>
                </a:solidFill>
                <a:latin typeface="Aptos Display"/>
                <a:ea typeface="Aptos Display"/>
                <a:cs typeface="Aptos Display"/>
              </a:rPr>
              <a:t>Trh</a:t>
            </a:r>
          </a:p>
        </p:txBody>
      </p:sp>
      <p:sp>
        <p:nvSpPr>
          <p:cNvPr id="21" name="flow-desc-3">
            <a:extLst xmlns:a="http://schemas.openxmlformats.org/drawingml/2006/main">
              <a:ext uri="{FF2B5EF4-FFF2-40B4-BE49-F238E27FC236}">
                <a16:creationId xmlns:a16="http://schemas.microsoft.com/office/drawing/2014/main" id="{1DF500A8-C078-4F24-B0D3-3DB02D18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86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473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F6473"/>
                </a:solidFill>
                <a:latin typeface="Aptos"/>
                <a:ea typeface="Aptos"/>
                <a:cs typeface="Aptos"/>
              </a:rPr>
              <a:t>seznam firem + prioritizace oslovení</a:t>
            </a:r>
          </a:p>
        </p:txBody>
      </p:sp>
      <p:sp>
        <p:nvSpPr>
          <p:cNvPr id="22" name="chevron-3">
            <a:extLst xmlns:a="http://schemas.openxmlformats.org/drawingml/2006/main">
              <a:ext uri="{FF2B5EF4-FFF2-40B4-BE49-F238E27FC236}">
                <a16:creationId xmlns:a16="http://schemas.microsoft.com/office/drawing/2014/main" id="{46B907F9-F414-492C-9EB0-940245D6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33700"/>
            <a:ext cx="266700" cy="304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DE9FF"/>
          </a:solidFill>
          <a:ln xmlns:a="http://schemas.openxmlformats.org/drawingml/2006/main" w="0">
            <a:solidFill>
              <a:srgbClr val="EDE9FF"/>
            </a:solidFill>
            <a:prstDash val="solid"/>
          </a:ln>
        </p:spPr>
      </p:sp>
      <p:sp>
        <p:nvSpPr>
          <p:cNvPr id="23" name="flow-4">
            <a:extLst xmlns:a="http://schemas.openxmlformats.org/drawingml/2006/main">
              <a:ext uri="{FF2B5EF4-FFF2-40B4-BE49-F238E27FC236}">
                <a16:creationId xmlns:a16="http://schemas.microsoft.com/office/drawing/2014/main" id="{BA2E6EA8-19FB-4B70-B916-1D8B8ADB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2324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flow-num-4">
            <a:extLst xmlns:a="http://schemas.openxmlformats.org/drawingml/2006/main">
              <a:ext uri="{FF2B5EF4-FFF2-40B4-BE49-F238E27FC236}">
                <a16:creationId xmlns:a16="http://schemas.microsoft.com/office/drawing/2014/main" id="{B1BE07DE-E9CE-4C5B-AAF8-0D82B8C4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28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357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7357FF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5" name="flow-name-4">
            <a:extLst xmlns:a="http://schemas.openxmlformats.org/drawingml/2006/main">
              <a:ext uri="{FF2B5EF4-FFF2-40B4-BE49-F238E27FC236}">
                <a16:creationId xmlns:a16="http://schemas.microsoft.com/office/drawing/2014/main" id="{C2A7DBF2-1C8C-4013-8C22-E1FBF493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670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14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142A"/>
                </a:solidFill>
                <a:latin typeface="Aptos Display"/>
                <a:ea typeface="Aptos Display"/>
                <a:cs typeface="Aptos Display"/>
              </a:rPr>
              <a:t>GTM</a:t>
            </a:r>
          </a:p>
        </p:txBody>
      </p:sp>
      <p:sp>
        <p:nvSpPr>
          <p:cNvPr id="26" name="flow-desc-4">
            <a:extLst xmlns:a="http://schemas.openxmlformats.org/drawingml/2006/main">
              <a:ext uri="{FF2B5EF4-FFF2-40B4-BE49-F238E27FC236}">
                <a16:creationId xmlns:a16="http://schemas.microsoft.com/office/drawing/2014/main" id="{56EA836F-061B-445B-B41B-6B09EF39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86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473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F6473"/>
                </a:solidFill>
                <a:latin typeface="Aptos"/>
                <a:ea typeface="Aptos"/>
                <a:cs typeface="Aptos"/>
              </a:rPr>
              <a:t>web, CTA, one-pager, FAQ</a:t>
            </a:r>
          </a:p>
        </p:txBody>
      </p:sp>
      <p:sp>
        <p:nvSpPr>
          <p:cNvPr id="27" name="deliverables">
            <a:extLst xmlns:a="http://schemas.openxmlformats.org/drawingml/2006/main">
              <a:ext uri="{FF2B5EF4-FFF2-40B4-BE49-F238E27FC236}">
                <a16:creationId xmlns:a16="http://schemas.microsoft.com/office/drawing/2014/main" id="{AC0D2D03-30EF-47B5-8BBC-CC0AF1D9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68580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deliverables-title">
            <a:extLst xmlns:a="http://schemas.openxmlformats.org/drawingml/2006/main">
              <a:ext uri="{FF2B5EF4-FFF2-40B4-BE49-F238E27FC236}">
                <a16:creationId xmlns:a16="http://schemas.microsoft.com/office/drawing/2014/main" id="{DF1D62A7-6CC9-48C2-A15F-4AB11A22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4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142A"/>
                </a:solidFill>
                <a:latin typeface="Aptos Display"/>
                <a:ea typeface="Aptos Display"/>
                <a:cs typeface="Aptos Display"/>
              </a:rPr>
              <a:t>Konkrétní deliverables</a:t>
            </a:r>
          </a:p>
        </p:txBody>
      </p:sp>
      <p:sp>
        <p:nvSpPr>
          <p:cNvPr id="29" name="dot-ICP v1 + pri">
            <a:extLst xmlns:a="http://schemas.openxmlformats.org/drawingml/2006/main">
              <a:ext uri="{FF2B5EF4-FFF2-40B4-BE49-F238E27FC236}">
                <a16:creationId xmlns:a16="http://schemas.microsoft.com/office/drawing/2014/main" id="{04F7DC85-5040-4388-B468-B74726C9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67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7FF"/>
          </a:solidFill>
          <a:ln xmlns:a="http://schemas.openxmlformats.org/drawingml/2006/main" w="0">
            <a:solidFill>
              <a:srgbClr val="7357FF"/>
            </a:solidFill>
            <a:prstDash val="solid"/>
          </a:ln>
        </p:spPr>
      </p:sp>
      <p:sp>
        <p:nvSpPr>
          <p:cNvPr id="30" name="bullet-ICP v1 + prioritní p">
            <a:extLst xmlns:a="http://schemas.openxmlformats.org/drawingml/2006/main">
              <a:ext uri="{FF2B5EF4-FFF2-40B4-BE49-F238E27FC236}">
                <a16:creationId xmlns:a16="http://schemas.microsoft.com/office/drawing/2014/main" id="{60AE2D75-853F-4F7F-A125-3898CE59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800600"/>
            <a:ext cx="2790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4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142A"/>
                </a:solidFill>
                <a:latin typeface="Aptos"/>
                <a:ea typeface="Aptos"/>
                <a:cs typeface="Aptos"/>
              </a:rPr>
              <a:t>ICP v1 + prioritní painpointy</a:t>
            </a:r>
          </a:p>
        </p:txBody>
      </p:sp>
      <p:sp>
        <p:nvSpPr>
          <p:cNvPr id="31" name="dot-pilotní nabí">
            <a:extLst xmlns:a="http://schemas.openxmlformats.org/drawingml/2006/main">
              <a:ext uri="{FF2B5EF4-FFF2-40B4-BE49-F238E27FC236}">
                <a16:creationId xmlns:a16="http://schemas.microsoft.com/office/drawing/2014/main" id="{BCCB025A-3F3E-4F65-86A4-DAD1ACB4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53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7FF"/>
          </a:solidFill>
          <a:ln xmlns:a="http://schemas.openxmlformats.org/drawingml/2006/main" w="0">
            <a:solidFill>
              <a:srgbClr val="7357FF"/>
            </a:solidFill>
            <a:prstDash val="solid"/>
          </a:ln>
        </p:spPr>
      </p:sp>
      <p:sp>
        <p:nvSpPr>
          <p:cNvPr id="32" name="bullet-pilotní nabídka a de">
            <a:extLst xmlns:a="http://schemas.openxmlformats.org/drawingml/2006/main">
              <a:ext uri="{FF2B5EF4-FFF2-40B4-BE49-F238E27FC236}">
                <a16:creationId xmlns:a16="http://schemas.microsoft.com/office/drawing/2014/main" id="{B72795AA-BAF1-4BBC-869D-181B9C9B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086350"/>
            <a:ext cx="2790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4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142A"/>
                </a:solidFill>
                <a:latin typeface="Aptos"/>
                <a:ea typeface="Aptos"/>
                <a:cs typeface="Aptos"/>
              </a:rPr>
              <a:t>pilotní nabídka a demo scénář</a:t>
            </a:r>
          </a:p>
        </p:txBody>
      </p:sp>
      <p:sp>
        <p:nvSpPr>
          <p:cNvPr id="33" name="dot-seznam firem">
            <a:extLst xmlns:a="http://schemas.openxmlformats.org/drawingml/2006/main">
              <a:ext uri="{FF2B5EF4-FFF2-40B4-BE49-F238E27FC236}">
                <a16:creationId xmlns:a16="http://schemas.microsoft.com/office/drawing/2014/main" id="{C9E7A619-5BF4-45ED-B289-0AEE9CD5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38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7FF"/>
          </a:solidFill>
          <a:ln xmlns:a="http://schemas.openxmlformats.org/drawingml/2006/main" w="0">
            <a:solidFill>
              <a:srgbClr val="7357FF"/>
            </a:solidFill>
            <a:prstDash val="solid"/>
          </a:ln>
        </p:spPr>
      </p:sp>
      <p:sp>
        <p:nvSpPr>
          <p:cNvPr id="34" name="bullet-seznam firem pro pil">
            <a:extLst xmlns:a="http://schemas.openxmlformats.org/drawingml/2006/main">
              <a:ext uri="{FF2B5EF4-FFF2-40B4-BE49-F238E27FC236}">
                <a16:creationId xmlns:a16="http://schemas.microsoft.com/office/drawing/2014/main" id="{E486DDC8-6087-4015-B391-371BEDFF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372100"/>
            <a:ext cx="2790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4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142A"/>
                </a:solidFill>
                <a:latin typeface="Aptos"/>
                <a:ea typeface="Aptos"/>
                <a:cs typeface="Aptos"/>
              </a:rPr>
              <a:t>seznam firem pro pilotní oslovení</a:t>
            </a:r>
          </a:p>
        </p:txBody>
      </p:sp>
      <p:sp>
        <p:nvSpPr>
          <p:cNvPr id="35" name="dot-landing page">
            <a:extLst xmlns:a="http://schemas.openxmlformats.org/drawingml/2006/main">
              <a:ext uri="{FF2B5EF4-FFF2-40B4-BE49-F238E27FC236}">
                <a16:creationId xmlns:a16="http://schemas.microsoft.com/office/drawing/2014/main" id="{DD7555DE-6EFA-4BE6-9CF1-4504C5AE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67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7FF"/>
          </a:solidFill>
          <a:ln xmlns:a="http://schemas.openxmlformats.org/drawingml/2006/main" w="0">
            <a:solidFill>
              <a:srgbClr val="7357FF"/>
            </a:solidFill>
            <a:prstDash val="solid"/>
          </a:ln>
        </p:spPr>
      </p:sp>
      <p:sp>
        <p:nvSpPr>
          <p:cNvPr id="36" name="bullet-landing page + CTA">
            <a:extLst xmlns:a="http://schemas.openxmlformats.org/drawingml/2006/main">
              <a:ext uri="{FF2B5EF4-FFF2-40B4-BE49-F238E27FC236}">
                <a16:creationId xmlns:a16="http://schemas.microsoft.com/office/drawing/2014/main" id="{69755D7F-3BDE-45CC-ABD2-EADDDC93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800600"/>
            <a:ext cx="2886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4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142A"/>
                </a:solidFill>
                <a:latin typeface="Aptos"/>
                <a:ea typeface="Aptos"/>
                <a:cs typeface="Aptos"/>
              </a:rPr>
              <a:t>landing page + CTA</a:t>
            </a:r>
          </a:p>
        </p:txBody>
      </p:sp>
      <p:sp>
        <p:nvSpPr>
          <p:cNvPr id="37" name="dot-FAQ: GDPR, d">
            <a:extLst xmlns:a="http://schemas.openxmlformats.org/drawingml/2006/main">
              <a:ext uri="{FF2B5EF4-FFF2-40B4-BE49-F238E27FC236}">
                <a16:creationId xmlns:a16="http://schemas.microsoft.com/office/drawing/2014/main" id="{F1AE28FA-A760-4B2C-9E3A-4E16F074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153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7FF"/>
          </a:solidFill>
          <a:ln xmlns:a="http://schemas.openxmlformats.org/drawingml/2006/main" w="0">
            <a:solidFill>
              <a:srgbClr val="7357FF"/>
            </a:solidFill>
            <a:prstDash val="solid"/>
          </a:ln>
        </p:spPr>
      </p:sp>
      <p:sp>
        <p:nvSpPr>
          <p:cNvPr id="38" name="bullet-FAQ: GDPR, data, ado">
            <a:extLst xmlns:a="http://schemas.openxmlformats.org/drawingml/2006/main">
              <a:ext uri="{FF2B5EF4-FFF2-40B4-BE49-F238E27FC236}">
                <a16:creationId xmlns:a16="http://schemas.microsoft.com/office/drawing/2014/main" id="{751F450B-33EB-488D-92CE-5853A6AA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086350"/>
            <a:ext cx="2886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4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142A"/>
                </a:solidFill>
                <a:latin typeface="Aptos"/>
                <a:ea typeface="Aptos"/>
                <a:cs typeface="Aptos"/>
              </a:rPr>
              <a:t>FAQ: GDPR, data, adopce, čeština</a:t>
            </a:r>
          </a:p>
        </p:txBody>
      </p:sp>
      <p:sp>
        <p:nvSpPr>
          <p:cNvPr id="39" name="decision">
            <a:extLst xmlns:a="http://schemas.openxmlformats.org/drawingml/2006/main">
              <a:ext uri="{FF2B5EF4-FFF2-40B4-BE49-F238E27FC236}">
                <a16:creationId xmlns:a16="http://schemas.microsoft.com/office/drawing/2014/main" id="{46D762A3-5754-4953-8266-42CA4493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14800"/>
            <a:ext cx="34290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7357FF"/>
          </a:solidFill>
          <a:ln xmlns:a="http://schemas.openxmlformats.org/drawingml/2006/main" w="9525">
            <a:solidFill>
              <a:srgbClr val="735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D3FFCF77-1513-47B0-BD2A-9E33490D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81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Rozhodnutí na konci fáze</a:t>
            </a:r>
          </a:p>
        </p:txBody>
      </p:sp>
      <p:sp>
        <p:nvSpPr>
          <p:cNvPr id="41" name="decision-body">
            <a:extLst xmlns:a="http://schemas.openxmlformats.org/drawingml/2006/main">
              <a:ext uri="{FF2B5EF4-FFF2-40B4-BE49-F238E27FC236}">
                <a16:creationId xmlns:a16="http://schemas.microsoft.com/office/drawing/2014/main" id="{F0147BF8-0896-429E-9B87-6047EE58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7680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FFFFFF"/>
                </a:solidFill>
                <a:latin typeface="Aptos"/>
                <a:ea typeface="Aptos"/>
                <a:cs typeface="Aptos"/>
              </a:rPr>
              <a:t>Najdeme-li jasný signál, další krok je pilot. Pokud ne, upravit positioning před větším launchem.</a:t>
            </a:r>
          </a:p>
        </p:txBody>
      </p:sp>
      <p:sp>
        <p:nvSpPr>
          <p:cNvPr id="42" name="pill-Domluvit pilotní konzultaci">
            <a:extLst xmlns:a="http://schemas.openxmlformats.org/drawingml/2006/main">
              <a:ext uri="{FF2B5EF4-FFF2-40B4-BE49-F238E27FC236}">
                <a16:creationId xmlns:a16="http://schemas.microsoft.com/office/drawing/2014/main" id="{DA5E7722-5EFF-4CE3-BD7A-1F3D1CDC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054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pill-text-Domluvit pilotní konzultaci">
            <a:extLst xmlns:a="http://schemas.openxmlformats.org/drawingml/2006/main">
              <a:ext uri="{FF2B5EF4-FFF2-40B4-BE49-F238E27FC236}">
                <a16:creationId xmlns:a16="http://schemas.microsoft.com/office/drawing/2014/main" id="{9C843B37-52C6-40FD-895C-B882CCEA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72125"/>
            <a:ext cx="2076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B2A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B2A9A"/>
                </a:solidFill>
                <a:latin typeface="Aptos"/>
                <a:ea typeface="Aptos"/>
                <a:cs typeface="Aptos"/>
              </a:rPr>
              <a:t>Domluvit pilotní konzultaci</a:t>
            </a:r>
          </a:p>
        </p:txBody>
      </p:sp>
      <p:sp>
        <p:nvSpPr>
          <p:cNvPr id="4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5800909-001C-49EF-97D8-E25FC642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6473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F6473"/>
                </a:solidFill>
                <a:latin typeface="Aptos"/>
                <a:ea typeface="Aptos"/>
                <a:cs typeface="Aptos"/>
              </a:rPr>
              <a:t>Plexima x OMI | produktová strategie</a:t>
            </a:r>
          </a:p>
        </p:txBody>
      </p:sp>
      <p:sp>
        <p:nvSpPr>
          <p:cNvPr id="4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39FA0EE-B191-47BA-ACBF-D3AD921D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473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F6473"/>
                </a:solidFill>
                <a:latin typeface="Aptos"/>
                <a:ea typeface="Aptos"/>
                <a:cs typeface="Aptos"/>
              </a:rPr>
              <a:t>pracovní draft</a:t>
            </a:r>
          </a:p>
        </p:txBody>
      </p:sp>
    </p:spTree>
    <p:extLst>
      <p:ext uri="{BB962C8B-B14F-4D97-AF65-F5344CB8AC3E}">
        <p14:creationId xmlns:p14="http://schemas.microsoft.com/office/powerpoint/2010/main" val="14552767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2026-06-15T11:45:29.1470000Z</dcterms:created>
  <dcterms:modified xsi:type="dcterms:W3CDTF">2026-06-15T11:45:29.1470000Z</dcterms:modified>
</coreProperties>
</file>